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86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200" b="1">
                <a:solidFill>
                  <a:srgbClr val="FFFFFF"/>
                </a:solidFill>
                <a:latin typeface="Calibri"/>
              </a:rPr>
              <a:t>ROUND 1 REVIEW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00A4EF"/>
                </a:solidFill>
                <a:latin typeface="Calibri"/>
              </a:rPr>
              <a:t>AI Frontier Challenge 2026 — CalmCare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000" b="1">
                <a:solidFill>
                  <a:srgbClr val="FBBF24"/>
                </a:solidFill>
                <a:latin typeface="Calibri"/>
              </a:rPr>
              <a:t>Team Zero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Tanvee Sai Rayudu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Healthcare (H2: Discharge Summary to Care Plan)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800" b="0">
                <a:solidFill>
                  <a:srgbClr val="FFFFFF"/>
                </a:solidFill>
                <a:latin typeface="Calibri"/>
              </a:rPr>
              <a:t>October 2026</a:t>
            </a:r>
            <a:endParaRPr lang="en-US" sz="1800" dirty="0"/>
          </a:p>
        </p:txBody>
      </p:sp>
      <p:pic>
        <p:nvPicPr>
          <p:cNvPr id="12" name="Picture 11" descr="calmcar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20040"/>
            <a:ext cx="2560320" cy="6702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350" b="1">
                <a:solidFill>
                  <a:srgbClr val="1F4788"/>
                </a:solidFill>
                <a:latin typeface="Calibri"/>
              </a:rPr>
              <a:t>• Problem: </a:t>
            </a:r>
            <a:r>
              <a:rPr sz="1350" b="0">
                <a:solidFill>
                  <a:srgbClr val="2D2D2D"/>
                </a:solidFill>
                <a:latin typeface="Calibri"/>
              </a:rPr>
              <a:t>Hospital discharge summaries are dense, jargon-heavy documents filled with clinical Latin abbreviations (OD, BD, PRN) and complex schedules that patients and families cannot understand.</a:t>
            </a:r>
            <a:endParaRPr lang="en-US" sz="1600" dirty="0"/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4788"/>
                </a:solidFill>
                <a:latin typeface="Calibri"/>
              </a:rPr>
              <a:t>• Affected Stakeholders: </a:t>
            </a:r>
            <a:r>
              <a:rPr sz="1350" b="0">
                <a:solidFill>
                  <a:srgbClr val="2D2D2D"/>
                </a:solidFill>
                <a:latin typeface="Calibri"/>
              </a:rPr>
              <a:t>Discharged hospital patients, elderly individuals, family caregivers, non-English speakers across India, and treating clinical teams.</a:t>
            </a:r>
          </a:p>
          <a:p>
            <a:r>
              <a:rPr sz="1350" b="1">
                <a:solidFill>
                  <a:srgbClr val="1F4788"/>
                </a:solidFill>
                <a:latin typeface="Calibri"/>
              </a:rPr>
              <a:t>• Impact &amp; Consequence: </a:t>
            </a:r>
            <a:r>
              <a:rPr sz="1350" b="0">
                <a:solidFill>
                  <a:srgbClr val="2D2D2D"/>
                </a:solidFill>
                <a:latin typeface="Calibri"/>
              </a:rPr>
              <a:t>Over 50% of discharge instructions are misunderstood, leading to dangerous dosage errors, medication non-adherence, adverse events, and avoidable 30-day hospital readmissions.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350" b="1">
                <a:solidFill>
                  <a:srgbClr val="1F4788"/>
                </a:solidFill>
                <a:latin typeface="Calibri"/>
              </a:rPr>
              <a:t>• Market Size &amp; Growth: </a:t>
            </a:r>
            <a:r>
              <a:rPr sz="1350" b="0">
                <a:solidFill>
                  <a:srgbClr val="2D2D2D"/>
                </a:solidFill>
                <a:latin typeface="Calibri"/>
              </a:rPr>
              <a:t>Over 70M annual hospitalizations in India; digital patient engagement and post-discharge monitoring market is expanding at 25%+ CAGR under ABDM initiatives.</a:t>
            </a:r>
            <a:endParaRPr lang="en-US" sz="1600" dirty="0"/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4788"/>
                </a:solidFill>
                <a:latin typeface="Calibri"/>
              </a:rPr>
              <a:t>• Target Audience Demographics: </a:t>
            </a:r>
            <a:r>
              <a:rPr sz="1350" b="0">
                <a:solidFill>
                  <a:srgbClr val="2D2D2D"/>
                </a:solidFill>
                <a:latin typeface="Calibri"/>
              </a:rPr>
              <a:t>1.4B Indian citizens across diverse linguistic backgrounds where 88%+ communicate in regional languages, managing chronic, surgical, and maternity recovery.</a:t>
            </a:r>
          </a:p>
          <a:p>
            <a:r>
              <a:rPr sz="1350" b="1">
                <a:solidFill>
                  <a:srgbClr val="1F4788"/>
                </a:solidFill>
                <a:latin typeface="Calibri"/>
              </a:rPr>
              <a:t>• Competitive Landscape: </a:t>
            </a:r>
            <a:r>
              <a:rPr sz="1350" b="0">
                <a:solidFill>
                  <a:srgbClr val="2D2D2D"/>
                </a:solidFill>
                <a:latin typeface="Calibri"/>
              </a:rPr>
              <a:t>Generic LLM chatbots hallucinate medical instructions and alter doses; CalmCare provides deterministic safety gating, zero dose alteration tolerance, and 6 Indic languages.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50" b="1">
                <a:solidFill>
                  <a:srgbClr val="1F4788"/>
                </a:solidFill>
                <a:latin typeface="Calibri"/>
              </a:rPr>
              <a:t>• What is your solution?: </a:t>
            </a:r>
            <a:r>
              <a:rPr sz="1250" b="0">
                <a:solidFill>
                  <a:srgbClr val="2D2D2D"/>
                </a:solidFill>
                <a:latin typeface="Calibri"/>
              </a:rPr>
              <a:t>CalmCare is a voice-first, multilingual, safety-verified patient recovery companion that transforms hospital discharge summaries into faithful, plain-language care plans.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F4788"/>
                </a:solidFill>
                <a:latin typeface="Calibri"/>
              </a:rPr>
              <a:t>• How it addresses the problem: </a:t>
            </a:r>
            <a:r>
              <a:rPr sz="1250" b="0">
                <a:solidFill>
                  <a:srgbClr val="2D2D2D"/>
                </a:solidFill>
                <a:latin typeface="Calibri"/>
              </a:rPr>
              <a:t>Extracts clinical facts deterministically, audits every dose against source text, and explains instructions in Class-8 language with regional voice narration.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F4788"/>
                </a:solidFill>
                <a:latin typeface="Calibri"/>
              </a:rPr>
              <a:t>• Key features and benefits: </a:t>
            </a:r>
            <a:r>
              <a:rPr sz="1250" b="0">
                <a:solidFill>
                  <a:srgbClr val="2D2D2D"/>
                </a:solidFill>
                <a:latin typeface="Calibri"/>
              </a:rPr>
              <a:t>Plain-language Recovery Guide, 4-slot visual medicine timetable, grounded 'Ask My Summary' Q&amp;A, teach-back comprehension checks, and 1-page printable Fridge Sheet.</a:t>
            </a:r>
          </a:p>
          <a:p>
            <a:r>
              <a:rPr sz="1250" b="1">
                <a:solidFill>
                  <a:srgbClr val="1F4788"/>
                </a:solidFill>
                <a:latin typeface="Calibri"/>
              </a:rPr>
              <a:t>• Why approach is unique: </a:t>
            </a:r>
            <a:r>
              <a:rPr sz="1250" b="0">
                <a:solidFill>
                  <a:srgbClr val="2D2D2D"/>
                </a:solidFill>
                <a:latin typeface="Calibri"/>
              </a:rPr>
              <a:t>Medical Instruction Fidelity Over Conversational Fluency—hard stop on altered doses (5mg vs 50mg) or dropped medicines, backed by click-to-verify source proof citations.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7" name="Picture 6" descr="solution_prototype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82296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Steps &amp;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sz="1200" b="1">
                <a:solidFill>
                  <a:srgbClr val="1F4788"/>
                </a:solidFill>
                <a:latin typeface="Calibri"/>
              </a:rPr>
              <a:t>1. Multi-Format Ingestion &amp; OCR: </a:t>
            </a:r>
            <a:r>
              <a:rPr sz="1200" b="0">
                <a:solidFill>
                  <a:srgbClr val="2D2D2D"/>
                </a:solidFill>
                <a:latin typeface="Calibri"/>
              </a:rPr>
              <a:t>Ingests digital PDFs and scanned camera snapshots; performs orientation deskewing, token extraction, and image quality assessment.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F4788"/>
                </a:solidFill>
                <a:latin typeface="Calibri"/>
              </a:rPr>
              <a:t>2. Deterministic Extraction &amp; Normalization: </a:t>
            </a:r>
            <a:r>
              <a:rPr sz="1200" b="0">
                <a:solidFill>
                  <a:srgbClr val="2D2D2D"/>
                </a:solidFill>
                <a:latin typeface="Calibri"/>
              </a:rPr>
              <a:t>Extracts patient profile, diagnoses, exact medicine tables (molecule, dose, unit, frequency, timing), warning signs, and follow-up dates.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F4788"/>
                </a:solidFill>
                <a:latin typeface="Calibri"/>
              </a:rPr>
              <a:t>3. Dual-Layer Safety Verification: </a:t>
            </a:r>
            <a:r>
              <a:rPr sz="1200" b="0">
                <a:solidFill>
                  <a:srgbClr val="2D2D2D"/>
                </a:solidFill>
                <a:latin typeface="Calibri"/>
              </a:rPr>
              <a:t>Executes strict clinical audits—flags dropped medicines, catches conflicting doses (e.g. 5mg vs 50mg), and links each instruction to exact source sentences.</a:t>
            </a:r>
          </a:p>
          <a:p>
            <a:r>
              <a:rPr sz="1200" b="1">
                <a:solidFill>
                  <a:srgbClr val="1F4788"/>
                </a:solidFill>
                <a:latin typeface="Calibri"/>
              </a:rPr>
              <a:t>4. Multilingual Indic NLP &amp; Accessible Delivery: </a:t>
            </a:r>
            <a:r>
              <a:rPr sz="1200" b="0">
                <a:solidFill>
                  <a:srgbClr val="2D2D2D"/>
                </a:solidFill>
                <a:latin typeface="Calibri"/>
              </a:rPr>
              <a:t>Renders care plans in English and 6 Indian languages (Hindi, Telugu, Tamil, Marathi, Bengali, Kannada) with slow-paced audio (0.85x) and printable Fridge Sheet.</a:t>
            </a:r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3840480" cy="228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9319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250" b="1">
                <a:solidFill>
                  <a:srgbClr val="2D2D2D"/>
                </a:solidFill>
                <a:latin typeface="Calibri"/>
              </a:rPr>
              <a:t>Problem: </a:t>
            </a:r>
            <a:r>
              <a:rPr sz="1250" b="0">
                <a:solidFill>
                  <a:srgbClr val="2D2D2D"/>
                </a:solidFill>
                <a:latin typeface="Calibri"/>
              </a:rPr>
              <a:t>Generative AI models frequently hallucinate, alter critical numerical doses (e.g., 5 mg to 50 mg), change units (mg vs mcg), or drop prescribed medications.</a:t>
            </a:r>
            <a:endParaRPr lang="en-US" sz="1300" dirty="0"/>
          </a:p>
          <a:p>
            <a:r>
              <a:rPr sz="1250" b="1">
                <a:solidFill>
                  <a:srgbClr val="1F4788"/>
                </a:solidFill>
                <a:latin typeface="Calibri"/>
              </a:rPr>
              <a:t>Mitigation: </a:t>
            </a:r>
            <a:r>
              <a:rPr sz="1250" b="0">
                <a:solidFill>
                  <a:srgbClr val="1F4788"/>
                </a:solidFill>
                <a:latin typeface="Calibri"/>
              </a:rPr>
              <a:t>Implemented an independent deterministic Verification Engine with zero-tolerance safety gates that cross-checks all extracted entities against raw source text before user display.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250" b="1">
                <a:solidFill>
                  <a:srgbClr val="2D2D2D"/>
                </a:solidFill>
                <a:latin typeface="Calibri"/>
              </a:rPr>
              <a:t>Problem: </a:t>
            </a:r>
            <a:r>
              <a:rPr sz="1250" b="0">
                <a:solidFill>
                  <a:srgbClr val="2D2D2D"/>
                </a:solidFill>
                <a:latin typeface="Calibri"/>
              </a:rPr>
              <a:t>Medical discharge notes contain dense Latin abbreviations (OD, BD, PRN, pc, hs) and complex clinical terminology that patients cannot read or act upon.</a:t>
            </a:r>
            <a:endParaRPr lang="en-US" sz="1300" dirty="0"/>
          </a:p>
          <a:p>
            <a:r>
              <a:rPr sz="1250" b="1">
                <a:solidFill>
                  <a:srgbClr val="1F4788"/>
                </a:solidFill>
                <a:latin typeface="Calibri"/>
              </a:rPr>
              <a:t>Mitigation: </a:t>
            </a:r>
            <a:r>
              <a:rPr sz="1250" b="0">
                <a:solidFill>
                  <a:srgbClr val="1F4788"/>
                </a:solidFill>
                <a:latin typeface="Calibri"/>
              </a:rPr>
              <a:t>Built a clinical glossary normalizer and plain-language rewrite engine targeting Class-8 readability, accompanied by consistent translation into 6 Indian languages.</a:t>
            </a:r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250" b="1">
                <a:solidFill>
                  <a:srgbClr val="2D2D2D"/>
                </a:solidFill>
                <a:latin typeface="Calibri"/>
              </a:rPr>
              <a:t>Problem: </a:t>
            </a:r>
            <a:r>
              <a:rPr sz="1250" b="0">
                <a:solidFill>
                  <a:srgbClr val="2D2D2D"/>
                </a:solidFill>
                <a:latin typeface="Calibri"/>
              </a:rPr>
              <a:t>Low health literacy, visual impairments, and limited smartphone proficiency prevent elderly and rural patients from navigating digital dashboards.</a:t>
            </a:r>
            <a:endParaRPr lang="en-US" sz="1300" dirty="0"/>
          </a:p>
          <a:p>
            <a:r>
              <a:rPr sz="1250" b="1">
                <a:solidFill>
                  <a:srgbClr val="1F4788"/>
                </a:solidFill>
                <a:latin typeface="Calibri"/>
              </a:rPr>
              <a:t>Mitigation: </a:t>
            </a:r>
            <a:r>
              <a:rPr sz="1250" b="0">
                <a:solidFill>
                  <a:srgbClr val="1F4788"/>
                </a:solidFill>
                <a:latin typeface="Calibri"/>
              </a:rPr>
              <a:t>Integrated slow-paced spoken audio narration (0.85x speed), high-contrast accessibility mode, interactive teach-back checks, and an offline 1-page printable Fridge Sheet.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 (USP)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4688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1">
                <a:solidFill>
                  <a:srgbClr val="1F4788"/>
                </a:solidFill>
                <a:latin typeface="Calibri"/>
              </a:rPr>
              <a:t>Clinical Fidelity Over Fluency</a:t>
            </a:r>
            <a:endParaRPr lang="en-US" sz="1200" dirty="0"/>
          </a:p>
          <a:p>
            <a:pPr algn="ctr"/>
            <a:r>
              <a:rPr sz="1150" b="0">
                <a:solidFill>
                  <a:srgbClr val="2D2D2D"/>
                </a:solidFill>
                <a:latin typeface="Calibri"/>
              </a:rPr>
              <a:t>Unlike black-box LLMs, CalmCare delivers 100% medication recall, zero tolerance for altered doses, conflict detection, and clickable sentence-level Source Proof citations.</a:t>
            </a:r>
          </a:p>
        </p:txBody>
      </p:sp>
      <p:sp>
        <p:nvSpPr>
          <p:cNvPr id="7" name="Shape 5"/>
          <p:cNvSpPr/>
          <p:nvPr/>
        </p:nvSpPr>
        <p:spPr>
          <a:xfrm>
            <a:off x="3566160" y="1005840"/>
            <a:ext cx="24688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1">
                <a:solidFill>
                  <a:srgbClr val="1F4788"/>
                </a:solidFill>
                <a:latin typeface="Calibri"/>
              </a:rPr>
              <a:t>True Indic Multilingual &amp; Voice</a:t>
            </a:r>
            <a:endParaRPr lang="en-US" sz="1200" dirty="0"/>
          </a:p>
          <a:p>
            <a:pPr algn="ctr"/>
            <a:r>
              <a:rPr sz="1150" b="0">
                <a:solidFill>
                  <a:srgbClr val="2D2D2D"/>
                </a:solidFill>
                <a:latin typeface="Calibri"/>
              </a:rPr>
              <a:t>Seamless cross-language consistency across English + 6 Indian languages (Hindi, Telugu, Tamil, Marathi, Bengali, Kannada) with calm paced spoken audio guidance (0.85x).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24688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1">
                <a:solidFill>
                  <a:srgbClr val="1F4788"/>
                </a:solidFill>
                <a:latin typeface="Calibri"/>
              </a:rPr>
              <a:t>Closed-Loop Understanding</a:t>
            </a:r>
            <a:endParaRPr lang="en-US" sz="1200" dirty="0"/>
          </a:p>
          <a:p>
            <a:pPr algn="ctr"/>
            <a:r>
              <a:rPr sz="1150" b="0">
                <a:solidFill>
                  <a:srgbClr val="2D2D2D"/>
                </a:solidFill>
                <a:latin typeface="Calibri"/>
              </a:rPr>
              <a:t>Interactive Teach-Back comprehension checks, grounded Q&amp;A that refuses to guess missing advice, 1-page printable Fridge Sheet, and revocable caregiver access.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Summary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 b="1">
                <a:solidFill>
                  <a:srgbClr val="1F4788"/>
                </a:solidFill>
                <a:latin typeface="Calibri"/>
              </a:rPr>
              <a:t>• Why Choose CalmCare: </a:t>
            </a:r>
            <a:r>
              <a:rPr sz="1300" b="0">
                <a:solidFill>
                  <a:srgbClr val="2D2D2D"/>
                </a:solidFill>
                <a:latin typeface="Calibri"/>
              </a:rPr>
              <a:t>Replaces post-discharge anxiety and medical jargon with simple, trustworthy, verified recovery instructions that bridge the gap between hospital doctors and home care.</a:t>
            </a:r>
            <a:endParaRPr lang="en-US" sz="1400" dirty="0"/>
          </a:p>
          <a:p>
            <a:r>
              <a:rPr sz="1300" b="1">
                <a:solidFill>
                  <a:srgbClr val="1F4788"/>
                </a:solidFill>
                <a:latin typeface="Calibri"/>
              </a:rPr>
              <a:t>• Competitive Edge: </a:t>
            </a:r>
            <a:r>
              <a:rPr sz="1300" b="0">
                <a:solidFill>
                  <a:srgbClr val="2D2D2D"/>
                </a:solidFill>
                <a:latin typeface="Calibri"/>
              </a:rPr>
              <a:t>Combines deterministic clinical safety gating, Indic multilingual audio, automatic contradiction detection, and offline fridge sheets—delivering a production-tested patient care companion.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POC Video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31089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400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50" b="1">
                <a:solidFill>
                  <a:srgbClr val="1F4788"/>
                </a:solidFill>
                <a:latin typeface="Calibri"/>
              </a:rPr>
              <a:t>Live GitHub Codebase: </a:t>
            </a:r>
            <a:r>
              <a:rPr sz="1250" b="0">
                <a:solidFill>
                  <a:srgbClr val="2D2D2D"/>
                </a:solidFill>
                <a:latin typeface="Calibri"/>
              </a:rPr>
              <a:t>https://github.com/tanvee2210/calmcare  |  Team Zero  |  Tanvee Sai Rayudu</a:t>
            </a:r>
            <a:endParaRPr lang="en-US" sz="1400" dirty="0"/>
          </a:p>
          <a:p>
            <a:pPr algn="ctr"/>
            <a:r>
              <a:rPr sz="1150" b="0">
                <a:solidFill>
                  <a:srgbClr val="555555"/>
                </a:solidFill>
                <a:latin typeface="Calibri"/>
              </a:rPr>
              <a:t>Full-Stack Working Solution: React 19 + FastAPI Backend  •  Tested Across 6 Clinical Cases + Contradiction Tests</a:t>
            </a:r>
          </a:p>
        </p:txBody>
      </p:sp>
      <p:pic>
        <p:nvPicPr>
          <p:cNvPr id="8" name="Picture 7" descr="demo_video_p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0" cy="3090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Application>Microsoft Office PowerPoint</Application>
  <PresentationFormat>On-screen Show (16:9)</PresentationFormat>
  <Paragraphs>65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Guest User</cp:lastModifiedBy>
  <cp:revision>3</cp:revision>
  <dcterms:created xsi:type="dcterms:W3CDTF">2026-08-06T14:25:19Z</dcterms:created>
  <dcterms:modified xsi:type="dcterms:W3CDTF">2026-10-08T12:28:30Z</dcterms:modified>
</cp:coreProperties>
</file>